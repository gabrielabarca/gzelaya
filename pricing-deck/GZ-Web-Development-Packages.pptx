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image" Target="../media/image-5-2.png"/><Relationship Id="rId7" Type="http://schemas.openxmlformats.org/officeDocument/2006/relationships/image" Target="../media/image-5-2.png"/><Relationship Id="rId8" Type="http://schemas.openxmlformats.org/officeDocument/2006/relationships/image" Target="../media/image-5-2.png"/><Relationship Id="rId9" Type="http://schemas.openxmlformats.org/officeDocument/2006/relationships/image" Target="../media/image-5-2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image" Target="../media/image-6-2.png"/><Relationship Id="rId7" Type="http://schemas.openxmlformats.org/officeDocument/2006/relationships/image" Target="../media/image-6-2.png"/><Relationship Id="rId8" Type="http://schemas.openxmlformats.org/officeDocument/2006/relationships/image" Target="../media/image-6-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2.png"/><Relationship Id="rId6" Type="http://schemas.openxmlformats.org/officeDocument/2006/relationships/image" Target="../media/image-7-2.png"/><Relationship Id="rId7" Type="http://schemas.openxmlformats.org/officeDocument/2006/relationships/image" Target="../media/image-7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2.png"/><Relationship Id="rId6" Type="http://schemas.openxmlformats.org/officeDocument/2006/relationships/image" Target="../media/image-8-2.png"/><Relationship Id="rId7" Type="http://schemas.openxmlformats.org/officeDocument/2006/relationships/image" Target="../media/image-8-2.png"/><Relationship Id="rId8" Type="http://schemas.openxmlformats.org/officeDocument/2006/relationships/image" Target="../media/image-8-2.png"/><Relationship Id="rId9" Type="http://schemas.openxmlformats.org/officeDocument/2006/relationships/image" Target="../media/image-8-2.png"/><Relationship Id="rId10" Type="http://schemas.openxmlformats.org/officeDocument/2006/relationships/image" Target="../media/image-8-2.png"/><Relationship Id="rId11" Type="http://schemas.openxmlformats.org/officeDocument/2006/relationships/image" Target="../media/image-8-2.png"/><Relationship Id="rId12" Type="http://schemas.openxmlformats.org/officeDocument/2006/relationships/image" Target="../media/image-8-2.png"/><Relationship Id="rId13" Type="http://schemas.openxmlformats.org/officeDocument/2006/relationships/image" Target="../media/image-8-2.png"/><Relationship Id="rId14" Type="http://schemas.openxmlformats.org/officeDocument/2006/relationships/image" Target="../media/image-8-2.png"/><Relationship Id="rId15" Type="http://schemas.openxmlformats.org/officeDocument/2006/relationships/image" Target="../media/image-8-2.png"/><Relationship Id="rId16" Type="http://schemas.openxmlformats.org/officeDocument/2006/relationships/image" Target="../media/image-8-2.png"/><Relationship Id="rId17" Type="http://schemas.openxmlformats.org/officeDocument/2006/relationships/image" Target="../media/image-8-2.png"/><Relationship Id="rId18" Type="http://schemas.openxmlformats.org/officeDocument/2006/relationships/image" Target="../media/image-8-2.png"/><Relationship Id="rId19" Type="http://schemas.openxmlformats.org/officeDocument/2006/relationships/image" Target="../media/image-8-2.png"/><Relationship Id="rId20" Type="http://schemas.openxmlformats.org/officeDocument/2006/relationships/image" Target="../media/image-8-2.png"/><Relationship Id="rId21" Type="http://schemas.openxmlformats.org/officeDocument/2006/relationships/image" Target="../media/image-8-2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" y="3840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GZ.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59775" y="3840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DEVELOPMENT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 &amp; PACKAGES  · 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95528" y="2514600"/>
            <a:ext cx="10515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Landing pages,
</a:t>
            </a:r>
            <a:pPr algn="l" indent="0" marL="0">
              <a:lnSpc>
                <a:spcPct val="100000"/>
              </a:lnSpc>
              <a:buNone/>
            </a:pPr>
            <a:r>
              <a:rPr lang="en-US" sz="62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built to </a:t>
            </a:r>
            <a:pPr algn="l" indent="0" marL="0">
              <a:lnSpc>
                <a:spcPct val="100000"/>
              </a:lnSpc>
              <a:buNone/>
            </a:pPr>
            <a:r>
              <a:rPr lang="en-US" sz="6200" i="1" dirty="0">
                <a:solidFill>
                  <a:srgbClr val="CE6E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convert.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822960" y="470916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Custom, on-brand websites for founders who read minimalism as a mark of quality.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A6A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Digital Experiences      Professional Interfaces      Minimalist Code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" y="3840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GZ.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04088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pPr algn="l" indent="0" marL="0">
              <a:buNone/>
            </a:pPr>
            <a:r>
              <a:rPr lang="en-US" sz="115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/   THE OFFER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04088" y="12801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More than a website.</a:t>
            </a:r>
            <a:endParaRPr lang="en-US" sz="40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system that works.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04088" y="3246120"/>
            <a:ext cx="3383280" cy="2651760"/>
          </a:xfrm>
          <a:prstGeom prst="rect">
            <a:avLst/>
          </a:prstGeom>
          <a:solidFill>
            <a:srgbClr val="0C0C0C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9848" y="3630168"/>
            <a:ext cx="822960" cy="822960"/>
          </a:xfrm>
          <a:prstGeom prst="ellipse">
            <a:avLst/>
          </a:prstGeom>
          <a:solidFill>
            <a:srgbClr val="0C0C0C"/>
          </a:solidFill>
          <a:ln w="12700">
            <a:solidFill>
              <a:srgbClr val="3A3A3A"/>
            </a:solidFill>
            <a:prstDash val="solid"/>
          </a:ln>
        </p:spPr>
      </p:sp>
      <p:pic>
        <p:nvPicPr>
          <p:cNvPr id="7" name="Image 0" descr="assets/ic-authentic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840480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9848" y="4617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Authentic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69848" y="50749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that's unmistakably yours. No templates, no clones — a look built around your brand.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07408" y="3246120"/>
            <a:ext cx="3383280" cy="2651760"/>
          </a:xfrm>
          <a:prstGeom prst="rect">
            <a:avLst/>
          </a:prstGeom>
          <a:solidFill>
            <a:srgbClr val="0C0C0C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73168" y="3630168"/>
            <a:ext cx="822960" cy="822960"/>
          </a:xfrm>
          <a:prstGeom prst="ellipse">
            <a:avLst/>
          </a:prstGeom>
          <a:solidFill>
            <a:srgbClr val="0C0C0C"/>
          </a:solidFill>
          <a:ln w="12700">
            <a:solidFill>
              <a:srgbClr val="3A3A3A"/>
            </a:solidFill>
            <a:prstDash val="solid"/>
          </a:ln>
        </p:spPr>
      </p:sp>
      <p:pic>
        <p:nvPicPr>
          <p:cNvPr id="12" name="Image 1" descr="assets/ic-scalable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3840480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4617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Scalable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4773168" y="50749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Clean, structured code underneath. Start with a landing page, grow into a full platform.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10728" y="3246120"/>
            <a:ext cx="3383280" cy="2651760"/>
          </a:xfrm>
          <a:prstGeom prst="rect">
            <a:avLst/>
          </a:prstGeom>
          <a:solidFill>
            <a:srgbClr val="0C0C0C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76488" y="3630168"/>
            <a:ext cx="822960" cy="822960"/>
          </a:xfrm>
          <a:prstGeom prst="ellipse">
            <a:avLst/>
          </a:prstGeom>
          <a:solidFill>
            <a:srgbClr val="0C0C0C"/>
          </a:solidFill>
          <a:ln w="12700">
            <a:solidFill>
              <a:srgbClr val="3A3A3A"/>
            </a:solidFill>
            <a:prstDash val="solid"/>
          </a:ln>
        </p:spPr>
      </p:sp>
      <p:pic>
        <p:nvPicPr>
          <p:cNvPr id="17" name="Image 2" descr="assets/ic-detailed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3840480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76488" y="4617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Detailed</a:t>
            </a:r>
            <a:endParaRPr lang="en-US" sz="2100" dirty="0"/>
          </a:p>
        </p:txBody>
      </p:sp>
      <p:sp>
        <p:nvSpPr>
          <p:cNvPr id="19" name="Text 14"/>
          <p:cNvSpPr/>
          <p:nvPr/>
        </p:nvSpPr>
        <p:spPr>
          <a:xfrm>
            <a:off x="8476488" y="50749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polish lives up close — speed, spacing, and considered micro-interactions throughout.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704088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GABRIEL ZELAYA  ·  WEB DEVELOPMENT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" y="3840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GZ.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04088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pPr algn="l" indent="0" marL="0">
              <a:buNone/>
            </a:pPr>
            <a:r>
              <a:rPr lang="en-US" sz="115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/   HOW IT WORKS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04088" y="12801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From idea to launch,</a:t>
            </a:r>
            <a:endParaRPr lang="en-US" sz="40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 five clear steps.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41248" y="4096512"/>
            <a:ext cx="8718255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3840480"/>
            <a:ext cx="512064" cy="512064"/>
          </a:xfrm>
          <a:prstGeom prst="ellipse">
            <a:avLst/>
          </a:prstGeom>
          <a:solidFill>
            <a:srgbClr val="050505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38404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E6E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4526280"/>
            <a:ext cx="197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4919472"/>
            <a:ext cx="188238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define goals, audience and scope together.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60792" y="3840480"/>
            <a:ext cx="512064" cy="512064"/>
          </a:xfrm>
          <a:prstGeom prst="ellipse">
            <a:avLst/>
          </a:prstGeom>
          <a:solidFill>
            <a:srgbClr val="050505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60792" y="38404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E6E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15072" y="4526280"/>
            <a:ext cx="197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15072" y="4919472"/>
            <a:ext cx="188238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On-brand UI/UX, reviewed before a line of code.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17496" y="3840480"/>
            <a:ext cx="512064" cy="512064"/>
          </a:xfrm>
          <a:prstGeom prst="ellipse">
            <a:avLst/>
          </a:prstGeom>
          <a:solidFill>
            <a:srgbClr val="050505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17496" y="38404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E6E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71776" y="4526280"/>
            <a:ext cx="197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71776" y="4919472"/>
            <a:ext cx="188238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Clean, responsive development with live previews.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74200" y="3840480"/>
            <a:ext cx="512064" cy="512064"/>
          </a:xfrm>
          <a:prstGeom prst="ellipse">
            <a:avLst/>
          </a:prstGeom>
          <a:solidFill>
            <a:srgbClr val="050505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4200" y="38404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E6E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28480" y="4526280"/>
            <a:ext cx="197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28480" y="4919472"/>
            <a:ext cx="188238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Testing, deployment and a smooth go-live.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330903" y="3840480"/>
            <a:ext cx="512064" cy="512064"/>
          </a:xfrm>
          <a:prstGeom prst="ellipse">
            <a:avLst/>
          </a:prstGeom>
          <a:solidFill>
            <a:srgbClr val="050505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30903" y="38404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E6E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85183" y="4526280"/>
            <a:ext cx="197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285183" y="4919472"/>
            <a:ext cx="188238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Post-launch care so it keeps performing.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04088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GABRIEL ZELAYA  ·  WEB DEVELOPMENT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" y="3840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GZ.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04088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pPr algn="l" indent="0" marL="0">
              <a:buNone/>
            </a:pPr>
            <a:r>
              <a:rPr lang="en-US" sz="115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/   PACKAGES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04088" y="12344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Three ways to work together.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04088" y="2148840"/>
            <a:ext cx="3383280" cy="3931920"/>
          </a:xfrm>
          <a:prstGeom prst="rect">
            <a:avLst/>
          </a:prstGeom>
          <a:solidFill>
            <a:srgbClr val="0C0C0C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2514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69848" y="29260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₡200,000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069848" y="37216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Launch-ready landing page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69848" y="4160520"/>
            <a:ext cx="265176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43251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 </a:t>
            </a:r>
            <a:pPr algn="l" indent="0" marL="0"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one-page design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9848" y="4709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 </a:t>
            </a:r>
            <a:pPr algn="l" indent="0" marL="0"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Copywriting &amp; images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69848" y="50932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 </a:t>
            </a:r>
            <a:pPr algn="l" indent="0" marL="0"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 form + email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9848" y="547725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 </a:t>
            </a:r>
            <a:pPr algn="l" indent="0" marL="0"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Hosting &amp; go-live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07408" y="2148840"/>
            <a:ext cx="3383280" cy="3931920"/>
          </a:xfrm>
          <a:prstGeom prst="rect">
            <a:avLst/>
          </a:prstGeom>
          <a:solidFill>
            <a:srgbClr val="121011"/>
          </a:solidFill>
          <a:ln w="15875">
            <a:solidFill>
              <a:srgbClr val="CE6E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38928" y="19659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E6E6E"/>
          </a:solidFill>
          <a:ln/>
        </p:spPr>
      </p:sp>
      <p:sp>
        <p:nvSpPr>
          <p:cNvPr id="16" name="Text 14"/>
          <p:cNvSpPr/>
          <p:nvPr/>
        </p:nvSpPr>
        <p:spPr>
          <a:xfrm>
            <a:off x="5138928" y="1965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73168" y="2514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73168" y="29260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₡350,000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4773168" y="37216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managed site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73168" y="4160520"/>
            <a:ext cx="265176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43251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 </a:t>
            </a:r>
            <a:pPr algn="l" indent="0" marL="0"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Multi-page website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4709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 </a:t>
            </a:r>
            <a:pPr algn="l" indent="0" marL="0"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 — edit it yourself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73168" y="50932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 </a:t>
            </a:r>
            <a:pPr algn="l" indent="0" marL="0"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 &amp; analytics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73168" y="547725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 </a:t>
            </a:r>
            <a:pPr algn="l" indent="0" marL="0"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days of support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10728" y="2148840"/>
            <a:ext cx="3383280" cy="3931920"/>
          </a:xfrm>
          <a:prstGeom prst="rect">
            <a:avLst/>
          </a:prstGeom>
          <a:solidFill>
            <a:srgbClr val="0C0C0C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76488" y="2514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76488" y="289864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476488" y="3081528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₡500,000</a:t>
            </a:r>
            <a:endParaRPr lang="en-US" sz="3800" dirty="0"/>
          </a:p>
        </p:txBody>
      </p:sp>
      <p:sp>
        <p:nvSpPr>
          <p:cNvPr id="29" name="Text 27"/>
          <p:cNvSpPr/>
          <p:nvPr/>
        </p:nvSpPr>
        <p:spPr>
          <a:xfrm>
            <a:off x="8476488" y="37216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custom platform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476488" y="4160520"/>
            <a:ext cx="265176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76488" y="43251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 </a:t>
            </a:r>
            <a:pPr algn="l" indent="0" marL="0"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&amp; databases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76488" y="4709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 </a:t>
            </a:r>
            <a:pPr algn="l" indent="0" marL="0"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 / authentication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76488" y="50932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 </a:t>
            </a:r>
            <a:pPr algn="l" indent="0" marL="0"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E-commerce system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476488" y="547725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 </a:t>
            </a:r>
            <a:pPr algn="l" indent="0" marL="0"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 maintenance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4088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GABRIEL ZELAYA  ·  WEB DEVELOPMENT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" y="3840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GZ.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04088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pPr algn="l" indent="0" marL="0">
              <a:buNone/>
            </a:pPr>
            <a:r>
              <a:rPr lang="en-US" sz="115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/   STARTER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04088" y="1371600"/>
            <a:ext cx="3977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Launch-Ready</a:t>
            </a:r>
            <a:endParaRPr lang="en-US" sz="27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Landing Page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04088" y="306324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₡200,000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04088" y="42519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04088" y="448056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founders, events and product launches that need one sharp page, fast.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04088" y="525780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04088" y="54864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1–2 weeks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92040" y="1371600"/>
            <a:ext cx="0" cy="448056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1371600"/>
            <a:ext cx="622980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50" kern="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WHAT'S INCLUDED</a:t>
            </a:r>
            <a:endParaRPr lang="en-US" sz="1050" dirty="0"/>
          </a:p>
        </p:txBody>
      </p:sp>
      <p:pic>
        <p:nvPicPr>
          <p:cNvPr id="12" name="Image 0" descr="assets/ic-detailed-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915668"/>
            <a:ext cx="182880" cy="1828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568696" y="1847088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one-page landing design (on-brand UI/UX)</a:t>
            </a:r>
            <a:endParaRPr lang="en-US" sz="1200" dirty="0"/>
          </a:p>
        </p:txBody>
      </p:sp>
      <p:pic>
        <p:nvPicPr>
          <p:cNvPr id="14" name="Image 1" descr="assets/ic-detailed-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414016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68696" y="2345436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Mobile-first, fully responsive layout</a:t>
            </a:r>
            <a:endParaRPr lang="en-US" sz="1200" dirty="0"/>
          </a:p>
        </p:txBody>
      </p:sp>
      <p:pic>
        <p:nvPicPr>
          <p:cNvPr id="16" name="Image 2" descr="assets/ic-detailed-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2912364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68696" y="2843784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Conversion-focused copywriting</a:t>
            </a:r>
            <a:endParaRPr lang="en-US" sz="1200" dirty="0"/>
          </a:p>
        </p:txBody>
      </p:sp>
      <p:pic>
        <p:nvPicPr>
          <p:cNvPr id="18" name="Image 3" descr="assets/ic-detailed-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3410712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68696" y="3342132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sourcing &amp; optimization</a:t>
            </a:r>
            <a:endParaRPr lang="en-US" sz="1200" dirty="0"/>
          </a:p>
        </p:txBody>
      </p:sp>
      <p:pic>
        <p:nvPicPr>
          <p:cNvPr id="20" name="Image 4" descr="assets/ic-detailed-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3909060"/>
            <a:ext cx="182880" cy="1828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568696" y="3840480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 form with email delivery</a:t>
            </a:r>
            <a:endParaRPr lang="en-US" sz="1200" dirty="0"/>
          </a:p>
        </p:txBody>
      </p:sp>
      <p:pic>
        <p:nvPicPr>
          <p:cNvPr id="22" name="Image 5" descr="assets/ic-detailed-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4407408"/>
            <a:ext cx="182880" cy="18288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568696" y="4338828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Essential on-page SEO</a:t>
            </a:r>
            <a:endParaRPr lang="en-US" sz="1200" dirty="0"/>
          </a:p>
        </p:txBody>
      </p:sp>
      <p:pic>
        <p:nvPicPr>
          <p:cNvPr id="24" name="Image 6" descr="assets/ic-detailed-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7800" y="4905756"/>
            <a:ext cx="182880" cy="18288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568696" y="4837176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Hosting setup, deployment &amp; go-live</a:t>
            </a:r>
            <a:endParaRPr lang="en-US" sz="1200" dirty="0"/>
          </a:p>
        </p:txBody>
      </p:sp>
      <p:pic>
        <p:nvPicPr>
          <p:cNvPr id="26" name="Image 7" descr="assets/ic-detailed-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7800" y="5404104"/>
            <a:ext cx="182880" cy="18288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568696" y="5335524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round of revisions</a:t>
            </a:r>
            <a:endParaRPr lang="en-US" sz="1200" dirty="0"/>
          </a:p>
        </p:txBody>
      </p:sp>
      <p:sp>
        <p:nvSpPr>
          <p:cNvPr id="28" name="Text 18"/>
          <p:cNvSpPr/>
          <p:nvPr/>
        </p:nvSpPr>
        <p:spPr>
          <a:xfrm>
            <a:off x="704088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GABRIEL ZELAYA  ·  WEB DEVELOPMENT</a:t>
            </a:r>
            <a:endParaRPr lang="en-US" sz="850" dirty="0"/>
          </a:p>
        </p:txBody>
      </p:sp>
      <p:sp>
        <p:nvSpPr>
          <p:cNvPr id="29" name="Text 19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" y="3840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GZ.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04088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pPr algn="l" indent="0" marL="0">
              <a:buNone/>
            </a:pPr>
            <a:r>
              <a:rPr lang="en-US" sz="115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/   PROFESSIONAL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04088" y="1371600"/>
            <a:ext cx="3977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Complete</a:t>
            </a:r>
            <a:endParaRPr lang="en-US" sz="27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Managed Site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04088" y="306324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CE6E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₡350,000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04088" y="42519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04088" y="448056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Growing businesses and teams that need a full site they can update themselves.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04088" y="525780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04088" y="54864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2–4 weeks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92040" y="1371600"/>
            <a:ext cx="0" cy="448056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1371600"/>
            <a:ext cx="622980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50" kern="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PREVIOUS, PLUS</a:t>
            </a:r>
            <a:endParaRPr lang="en-US" sz="1050" dirty="0"/>
          </a:p>
        </p:txBody>
      </p:sp>
      <p:pic>
        <p:nvPicPr>
          <p:cNvPr id="12" name="Image 0" descr="assets/ic-detailed-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915668"/>
            <a:ext cx="182880" cy="1828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568696" y="1847088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Multi-page website (up to 5 pages)</a:t>
            </a:r>
            <a:endParaRPr lang="en-US" sz="1200" dirty="0"/>
          </a:p>
        </p:txBody>
      </p:sp>
      <p:pic>
        <p:nvPicPr>
          <p:cNvPr id="14" name="Image 1" descr="assets/ic-detailed-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414016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68696" y="2345436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 — edit your own content, no code</a:t>
            </a:r>
            <a:endParaRPr lang="en-US" sz="1200" dirty="0"/>
          </a:p>
        </p:txBody>
      </p:sp>
      <p:pic>
        <p:nvPicPr>
          <p:cNvPr id="16" name="Image 2" descr="assets/ic-detailed-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2912364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68696" y="2843784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functionality &amp; integrations</a:t>
            </a:r>
            <a:endParaRPr lang="en-US" sz="1200" dirty="0"/>
          </a:p>
        </p:txBody>
      </p:sp>
      <p:pic>
        <p:nvPicPr>
          <p:cNvPr id="18" name="Image 3" descr="assets/ic-detailed-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3410712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68696" y="3342132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&amp; conversion tracking</a:t>
            </a:r>
            <a:endParaRPr lang="en-US" sz="1200" dirty="0"/>
          </a:p>
        </p:txBody>
      </p:sp>
      <p:pic>
        <p:nvPicPr>
          <p:cNvPr id="20" name="Image 4" descr="assets/ic-detailed-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3909060"/>
            <a:ext cx="182880" cy="1828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568696" y="3840480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tuning (Core Web Vitals)</a:t>
            </a:r>
            <a:endParaRPr lang="en-US" sz="1200" dirty="0"/>
          </a:p>
        </p:txBody>
      </p:sp>
      <p:pic>
        <p:nvPicPr>
          <p:cNvPr id="22" name="Image 5" descr="assets/ic-detailed-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4407408"/>
            <a:ext cx="182880" cy="18288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568696" y="4338828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days of post-launch support</a:t>
            </a:r>
            <a:endParaRPr lang="en-US" sz="1200" dirty="0"/>
          </a:p>
        </p:txBody>
      </p:sp>
      <p:pic>
        <p:nvPicPr>
          <p:cNvPr id="24" name="Image 6" descr="assets/ic-detailed-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7800" y="4905756"/>
            <a:ext cx="182880" cy="18288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568696" y="4837176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rounds of revisions</a:t>
            </a:r>
            <a:endParaRPr lang="en-US" sz="1200" dirty="0"/>
          </a:p>
        </p:txBody>
      </p:sp>
      <p:sp>
        <p:nvSpPr>
          <p:cNvPr id="26" name="Text 17"/>
          <p:cNvSpPr/>
          <p:nvPr/>
        </p:nvSpPr>
        <p:spPr>
          <a:xfrm>
            <a:off x="704088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GABRIEL ZELAYA  ·  WEB DEVELOPMENT</a:t>
            </a:r>
            <a:endParaRPr lang="en-US" sz="850" dirty="0"/>
          </a:p>
        </p:txBody>
      </p:sp>
      <p:sp>
        <p:nvSpPr>
          <p:cNvPr id="27" name="Text 18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" y="3840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GZ.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04088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pPr algn="l" indent="0" marL="0">
              <a:buNone/>
            </a:pPr>
            <a:r>
              <a:rPr lang="en-US" sz="115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/   PREMIUM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04088" y="1371600"/>
            <a:ext cx="3977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Full</a:t>
            </a:r>
            <a:endParaRPr lang="en-US" sz="27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Custom Platform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04088" y="2999232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04088" y="3182112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₡500,000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04088" y="42519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04088" y="448056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E-commerce, SaaS and membership products that need real backend power.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4088" y="525780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04088" y="54864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6+ weeks · scoped per project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92040" y="1371600"/>
            <a:ext cx="0" cy="448056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7800" y="1371600"/>
            <a:ext cx="622980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50" kern="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PREVIOUS, PLUS</a:t>
            </a:r>
            <a:endParaRPr lang="en-US" sz="1050" dirty="0"/>
          </a:p>
        </p:txBody>
      </p:sp>
      <p:pic>
        <p:nvPicPr>
          <p:cNvPr id="13" name="Image 0" descr="assets/ic-detailed-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915668"/>
            <a:ext cx="182880" cy="1828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568696" y="1847088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development (custom APIs &amp; logic)</a:t>
            </a:r>
            <a:endParaRPr lang="en-US" sz="1200" dirty="0"/>
          </a:p>
        </p:txBody>
      </p:sp>
      <p:pic>
        <p:nvPicPr>
          <p:cNvPr id="15" name="Image 1" descr="assets/ic-detailed-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414016"/>
            <a:ext cx="182880" cy="1828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68696" y="2345436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design &amp; integration</a:t>
            </a:r>
            <a:endParaRPr lang="en-US" sz="1200" dirty="0"/>
          </a:p>
        </p:txBody>
      </p:sp>
      <p:pic>
        <p:nvPicPr>
          <p:cNvPr id="17" name="Image 2" descr="assets/ic-detailed-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2912364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568696" y="2843784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login &amp; authentication system</a:t>
            </a:r>
            <a:endParaRPr lang="en-US" sz="1200" dirty="0"/>
          </a:p>
        </p:txBody>
      </p:sp>
      <p:pic>
        <p:nvPicPr>
          <p:cNvPr id="19" name="Image 3" descr="assets/ic-detailed-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3410712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568696" y="3342132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E-commerce (catalog, cart, payments)</a:t>
            </a:r>
            <a:endParaRPr lang="en-US" sz="1200" dirty="0"/>
          </a:p>
        </p:txBody>
      </p:sp>
      <p:pic>
        <p:nvPicPr>
          <p:cNvPr id="21" name="Image 4" descr="assets/ic-detailed-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3909060"/>
            <a:ext cx="182880" cy="1828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568696" y="3840480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 support &amp; maintenance plan</a:t>
            </a:r>
            <a:endParaRPr lang="en-US" sz="1200" dirty="0"/>
          </a:p>
        </p:txBody>
      </p:sp>
      <p:pic>
        <p:nvPicPr>
          <p:cNvPr id="23" name="Image 5" descr="assets/ic-detailed-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4407408"/>
            <a:ext cx="182880" cy="1828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568696" y="4338828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built to scale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704088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GABRIEL ZELAYA  ·  WEB DEVELOPMENT</a:t>
            </a:r>
            <a:endParaRPr lang="en-US" sz="850" dirty="0"/>
          </a:p>
        </p:txBody>
      </p:sp>
      <p:sp>
        <p:nvSpPr>
          <p:cNvPr id="26" name="Text 18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" y="3840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GZ.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04088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pPr algn="l" indent="0" marL="0">
              <a:buNone/>
            </a:pPr>
            <a:r>
              <a:rPr lang="en-US" sz="115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/   COMPARE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04088" y="11887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Everything, side by side.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910328" y="1874520"/>
            <a:ext cx="219242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02754" y="1874520"/>
            <a:ext cx="219242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295181" y="1874520"/>
            <a:ext cx="219242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10328" y="2112264"/>
            <a:ext cx="219242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₡200,000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02754" y="2112264"/>
            <a:ext cx="219242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₡350,000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295181" y="2112264"/>
            <a:ext cx="219242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₡500,000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" y="2441448"/>
            <a:ext cx="10783519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496312"/>
            <a:ext cx="402336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design &amp; responsive</a:t>
            </a:r>
            <a:endParaRPr lang="en-US" sz="1100" dirty="0"/>
          </a:p>
        </p:txBody>
      </p:sp>
      <p:pic>
        <p:nvPicPr>
          <p:cNvPr id="13" name="Image 0" descr="assets/ic-detailed-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245" y="2553462"/>
            <a:ext cx="164592" cy="164592"/>
          </a:xfrm>
          <a:prstGeom prst="rect">
            <a:avLst/>
          </a:prstGeom>
        </p:spPr>
      </p:pic>
      <p:pic>
        <p:nvPicPr>
          <p:cNvPr id="14" name="Image 1" descr="assets/ic-detailed-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6672" y="2553462"/>
            <a:ext cx="164592" cy="164592"/>
          </a:xfrm>
          <a:prstGeom prst="rect">
            <a:avLst/>
          </a:prstGeom>
        </p:spPr>
      </p:pic>
      <p:pic>
        <p:nvPicPr>
          <p:cNvPr id="15" name="Image 2" descr="assets/ic-detailed-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9098" y="2553462"/>
            <a:ext cx="164592" cy="16459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04088" y="2775204"/>
            <a:ext cx="10783519" cy="278892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41248" y="2775204"/>
            <a:ext cx="402336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Copywriting &amp; content</a:t>
            </a:r>
            <a:endParaRPr lang="en-US" sz="1100" dirty="0"/>
          </a:p>
        </p:txBody>
      </p:sp>
      <p:pic>
        <p:nvPicPr>
          <p:cNvPr id="18" name="Image 3" descr="assets/ic-detailed-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4245" y="2832354"/>
            <a:ext cx="164592" cy="164592"/>
          </a:xfrm>
          <a:prstGeom prst="rect">
            <a:avLst/>
          </a:prstGeom>
        </p:spPr>
      </p:pic>
      <p:pic>
        <p:nvPicPr>
          <p:cNvPr id="19" name="Image 4" descr="assets/ic-detailed-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6672" y="2832354"/>
            <a:ext cx="164592" cy="164592"/>
          </a:xfrm>
          <a:prstGeom prst="rect">
            <a:avLst/>
          </a:prstGeom>
        </p:spPr>
      </p:pic>
      <p:pic>
        <p:nvPicPr>
          <p:cNvPr id="20" name="Image 5" descr="assets/ic-detailed-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09098" y="2832354"/>
            <a:ext cx="164592" cy="16459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41248" y="3054096"/>
            <a:ext cx="402336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 form &amp; email</a:t>
            </a:r>
            <a:endParaRPr lang="en-US" sz="1100" dirty="0"/>
          </a:p>
        </p:txBody>
      </p:sp>
      <p:pic>
        <p:nvPicPr>
          <p:cNvPr id="22" name="Image 6" descr="assets/ic-detailed-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4245" y="3111246"/>
            <a:ext cx="164592" cy="164592"/>
          </a:xfrm>
          <a:prstGeom prst="rect">
            <a:avLst/>
          </a:prstGeom>
        </p:spPr>
      </p:pic>
      <p:pic>
        <p:nvPicPr>
          <p:cNvPr id="23" name="Image 7" descr="assets/ic-detailed-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16672" y="3111246"/>
            <a:ext cx="164592" cy="164592"/>
          </a:xfrm>
          <a:prstGeom prst="rect">
            <a:avLst/>
          </a:prstGeom>
        </p:spPr>
      </p:pic>
      <p:pic>
        <p:nvPicPr>
          <p:cNvPr id="24" name="Image 8" descr="assets/ic-detailed-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09098" y="3111246"/>
            <a:ext cx="164592" cy="164592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704088" y="3332988"/>
            <a:ext cx="10783519" cy="278892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/>
            </a:solidFill>
            <a:prstDash val="solid"/>
          </a:ln>
        </p:spPr>
      </p:sp>
      <p:sp>
        <p:nvSpPr>
          <p:cNvPr id="26" name="Text 15"/>
          <p:cNvSpPr/>
          <p:nvPr/>
        </p:nvSpPr>
        <p:spPr>
          <a:xfrm>
            <a:off x="841248" y="3332988"/>
            <a:ext cx="402336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Hosting, deploy &amp; launch</a:t>
            </a:r>
            <a:endParaRPr lang="en-US" sz="1100" dirty="0"/>
          </a:p>
        </p:txBody>
      </p:sp>
      <p:pic>
        <p:nvPicPr>
          <p:cNvPr id="27" name="Image 9" descr="assets/ic-detailed-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24245" y="3390138"/>
            <a:ext cx="164592" cy="164592"/>
          </a:xfrm>
          <a:prstGeom prst="rect">
            <a:avLst/>
          </a:prstGeom>
        </p:spPr>
      </p:pic>
      <p:pic>
        <p:nvPicPr>
          <p:cNvPr id="28" name="Image 10" descr="assets/ic-detailed-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16672" y="3390138"/>
            <a:ext cx="164592" cy="164592"/>
          </a:xfrm>
          <a:prstGeom prst="rect">
            <a:avLst/>
          </a:prstGeom>
        </p:spPr>
      </p:pic>
      <p:pic>
        <p:nvPicPr>
          <p:cNvPr id="29" name="Image 11" descr="assets/ic-detailed-r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09098" y="3390138"/>
            <a:ext cx="164592" cy="164592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841248" y="3611880"/>
            <a:ext cx="402336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SEO</a:t>
            </a:r>
            <a:endParaRPr lang="en-US" sz="1100" dirty="0"/>
          </a:p>
        </p:txBody>
      </p:sp>
      <p:sp>
        <p:nvSpPr>
          <p:cNvPr id="31" name="Text 17"/>
          <p:cNvSpPr/>
          <p:nvPr/>
        </p:nvSpPr>
        <p:spPr>
          <a:xfrm>
            <a:off x="4910328" y="3611880"/>
            <a:ext cx="2192426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Basic</a:t>
            </a:r>
            <a:endParaRPr lang="en-US" sz="1050" dirty="0"/>
          </a:p>
        </p:txBody>
      </p:sp>
      <p:sp>
        <p:nvSpPr>
          <p:cNvPr id="32" name="Text 18"/>
          <p:cNvSpPr/>
          <p:nvPr/>
        </p:nvSpPr>
        <p:spPr>
          <a:xfrm>
            <a:off x="7102754" y="3611880"/>
            <a:ext cx="2192426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</a:t>
            </a:r>
            <a:endParaRPr lang="en-US" sz="1050" dirty="0"/>
          </a:p>
        </p:txBody>
      </p:sp>
      <p:sp>
        <p:nvSpPr>
          <p:cNvPr id="33" name="Text 19"/>
          <p:cNvSpPr/>
          <p:nvPr/>
        </p:nvSpPr>
        <p:spPr>
          <a:xfrm>
            <a:off x="9295181" y="3611880"/>
            <a:ext cx="2192426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</a:t>
            </a:r>
            <a:endParaRPr lang="en-US" sz="1050" dirty="0"/>
          </a:p>
        </p:txBody>
      </p:sp>
      <p:sp>
        <p:nvSpPr>
          <p:cNvPr id="34" name="Shape 20"/>
          <p:cNvSpPr/>
          <p:nvPr/>
        </p:nvSpPr>
        <p:spPr>
          <a:xfrm>
            <a:off x="704088" y="3890772"/>
            <a:ext cx="10783519" cy="278892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/>
            </a:solidFill>
            <a:prstDash val="solid"/>
          </a:ln>
        </p:spPr>
      </p:sp>
      <p:sp>
        <p:nvSpPr>
          <p:cNvPr id="35" name="Text 21"/>
          <p:cNvSpPr/>
          <p:nvPr/>
        </p:nvSpPr>
        <p:spPr>
          <a:xfrm>
            <a:off x="841248" y="3890772"/>
            <a:ext cx="402336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Pages</a:t>
            </a:r>
            <a:endParaRPr lang="en-US" sz="1100" dirty="0"/>
          </a:p>
        </p:txBody>
      </p:sp>
      <p:sp>
        <p:nvSpPr>
          <p:cNvPr id="36" name="Text 22"/>
          <p:cNvSpPr/>
          <p:nvPr/>
        </p:nvSpPr>
        <p:spPr>
          <a:xfrm>
            <a:off x="4910328" y="3890772"/>
            <a:ext cx="2192426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50" dirty="0"/>
          </a:p>
        </p:txBody>
      </p:sp>
      <p:sp>
        <p:nvSpPr>
          <p:cNvPr id="37" name="Text 23"/>
          <p:cNvSpPr/>
          <p:nvPr/>
        </p:nvSpPr>
        <p:spPr>
          <a:xfrm>
            <a:off x="7102754" y="3890772"/>
            <a:ext cx="2192426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to 5</a:t>
            </a:r>
            <a:endParaRPr lang="en-US" sz="1050" dirty="0"/>
          </a:p>
        </p:txBody>
      </p:sp>
      <p:sp>
        <p:nvSpPr>
          <p:cNvPr id="38" name="Text 24"/>
          <p:cNvSpPr/>
          <p:nvPr/>
        </p:nvSpPr>
        <p:spPr>
          <a:xfrm>
            <a:off x="9295181" y="3890772"/>
            <a:ext cx="2192426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Unlimited</a:t>
            </a:r>
            <a:endParaRPr lang="en-US" sz="1050" dirty="0"/>
          </a:p>
        </p:txBody>
      </p:sp>
      <p:sp>
        <p:nvSpPr>
          <p:cNvPr id="39" name="Text 25"/>
          <p:cNvSpPr/>
          <p:nvPr/>
        </p:nvSpPr>
        <p:spPr>
          <a:xfrm>
            <a:off x="841248" y="4169664"/>
            <a:ext cx="402336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 (self-editing)</a:t>
            </a:r>
            <a:endParaRPr lang="en-US" sz="1100" dirty="0"/>
          </a:p>
        </p:txBody>
      </p:sp>
      <p:sp>
        <p:nvSpPr>
          <p:cNvPr id="40" name="Text 26"/>
          <p:cNvSpPr/>
          <p:nvPr/>
        </p:nvSpPr>
        <p:spPr>
          <a:xfrm>
            <a:off x="4910328" y="4169664"/>
            <a:ext cx="2192426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200" dirty="0"/>
          </a:p>
        </p:txBody>
      </p:sp>
      <p:pic>
        <p:nvPicPr>
          <p:cNvPr id="41" name="Image 12" descr="assets/ic-detailed-r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16672" y="4226814"/>
            <a:ext cx="164592" cy="164592"/>
          </a:xfrm>
          <a:prstGeom prst="rect">
            <a:avLst/>
          </a:prstGeom>
        </p:spPr>
      </p:pic>
      <p:pic>
        <p:nvPicPr>
          <p:cNvPr id="42" name="Image 13" descr="assets/ic-detailed-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09098" y="4226814"/>
            <a:ext cx="164592" cy="164592"/>
          </a:xfrm>
          <a:prstGeom prst="rect">
            <a:avLst/>
          </a:prstGeom>
        </p:spPr>
      </p:pic>
      <p:sp>
        <p:nvSpPr>
          <p:cNvPr id="43" name="Shape 27"/>
          <p:cNvSpPr/>
          <p:nvPr/>
        </p:nvSpPr>
        <p:spPr>
          <a:xfrm>
            <a:off x="704088" y="4448556"/>
            <a:ext cx="10783519" cy="278892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/>
            </a:solidFill>
            <a:prstDash val="solid"/>
          </a:ln>
        </p:spPr>
      </p:sp>
      <p:sp>
        <p:nvSpPr>
          <p:cNvPr id="44" name="Text 28"/>
          <p:cNvSpPr/>
          <p:nvPr/>
        </p:nvSpPr>
        <p:spPr>
          <a:xfrm>
            <a:off x="841248" y="4448556"/>
            <a:ext cx="402336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&amp; integrations</a:t>
            </a:r>
            <a:endParaRPr lang="en-US" sz="1100" dirty="0"/>
          </a:p>
        </p:txBody>
      </p:sp>
      <p:sp>
        <p:nvSpPr>
          <p:cNvPr id="45" name="Text 29"/>
          <p:cNvSpPr/>
          <p:nvPr/>
        </p:nvSpPr>
        <p:spPr>
          <a:xfrm>
            <a:off x="4910328" y="4448556"/>
            <a:ext cx="2192426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200" dirty="0"/>
          </a:p>
        </p:txBody>
      </p:sp>
      <p:pic>
        <p:nvPicPr>
          <p:cNvPr id="46" name="Image 14" descr="assets/ic-detailed-r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16672" y="4505706"/>
            <a:ext cx="164592" cy="164592"/>
          </a:xfrm>
          <a:prstGeom prst="rect">
            <a:avLst/>
          </a:prstGeom>
        </p:spPr>
      </p:pic>
      <p:pic>
        <p:nvPicPr>
          <p:cNvPr id="47" name="Image 15" descr="assets/ic-detailed-r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309098" y="4505706"/>
            <a:ext cx="164592" cy="164592"/>
          </a:xfrm>
          <a:prstGeom prst="rect">
            <a:avLst/>
          </a:prstGeom>
        </p:spPr>
      </p:pic>
      <p:sp>
        <p:nvSpPr>
          <p:cNvPr id="48" name="Text 30"/>
          <p:cNvSpPr/>
          <p:nvPr/>
        </p:nvSpPr>
        <p:spPr>
          <a:xfrm>
            <a:off x="841248" y="4727448"/>
            <a:ext cx="402336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Post-launch support</a:t>
            </a:r>
            <a:endParaRPr lang="en-US" sz="1100" dirty="0"/>
          </a:p>
        </p:txBody>
      </p:sp>
      <p:sp>
        <p:nvSpPr>
          <p:cNvPr id="49" name="Text 31"/>
          <p:cNvSpPr/>
          <p:nvPr/>
        </p:nvSpPr>
        <p:spPr>
          <a:xfrm>
            <a:off x="4910328" y="4727448"/>
            <a:ext cx="2192426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200" dirty="0"/>
          </a:p>
        </p:txBody>
      </p:sp>
      <p:sp>
        <p:nvSpPr>
          <p:cNvPr id="50" name="Text 32"/>
          <p:cNvSpPr/>
          <p:nvPr/>
        </p:nvSpPr>
        <p:spPr>
          <a:xfrm>
            <a:off x="7102754" y="4727448"/>
            <a:ext cx="2192426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days</a:t>
            </a:r>
            <a:endParaRPr lang="en-US" sz="1050" dirty="0"/>
          </a:p>
        </p:txBody>
      </p:sp>
      <p:sp>
        <p:nvSpPr>
          <p:cNvPr id="51" name="Text 33"/>
          <p:cNvSpPr/>
          <p:nvPr/>
        </p:nvSpPr>
        <p:spPr>
          <a:xfrm>
            <a:off x="9295181" y="4727448"/>
            <a:ext cx="2192426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</a:t>
            </a:r>
            <a:endParaRPr lang="en-US" sz="1050" dirty="0"/>
          </a:p>
        </p:txBody>
      </p:sp>
      <p:sp>
        <p:nvSpPr>
          <p:cNvPr id="52" name="Shape 34"/>
          <p:cNvSpPr/>
          <p:nvPr/>
        </p:nvSpPr>
        <p:spPr>
          <a:xfrm>
            <a:off x="704088" y="5006340"/>
            <a:ext cx="10783519" cy="278892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/>
            </a:solidFill>
            <a:prstDash val="solid"/>
          </a:ln>
        </p:spPr>
      </p:sp>
      <p:sp>
        <p:nvSpPr>
          <p:cNvPr id="53" name="Text 35"/>
          <p:cNvSpPr/>
          <p:nvPr/>
        </p:nvSpPr>
        <p:spPr>
          <a:xfrm>
            <a:off x="841248" y="5006340"/>
            <a:ext cx="402336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development</a:t>
            </a:r>
            <a:endParaRPr lang="en-US" sz="1100" dirty="0"/>
          </a:p>
        </p:txBody>
      </p:sp>
      <p:sp>
        <p:nvSpPr>
          <p:cNvPr id="54" name="Text 36"/>
          <p:cNvSpPr/>
          <p:nvPr/>
        </p:nvSpPr>
        <p:spPr>
          <a:xfrm>
            <a:off x="4910328" y="5006340"/>
            <a:ext cx="2192426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200" dirty="0"/>
          </a:p>
        </p:txBody>
      </p:sp>
      <p:sp>
        <p:nvSpPr>
          <p:cNvPr id="55" name="Text 37"/>
          <p:cNvSpPr/>
          <p:nvPr/>
        </p:nvSpPr>
        <p:spPr>
          <a:xfrm>
            <a:off x="7102754" y="5006340"/>
            <a:ext cx="2192426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200" dirty="0"/>
          </a:p>
        </p:txBody>
      </p:sp>
      <p:pic>
        <p:nvPicPr>
          <p:cNvPr id="56" name="Image 16" descr="assets/ic-detailed-r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09098" y="5063490"/>
            <a:ext cx="164592" cy="164592"/>
          </a:xfrm>
          <a:prstGeom prst="rect">
            <a:avLst/>
          </a:prstGeom>
        </p:spPr>
      </p:pic>
      <p:sp>
        <p:nvSpPr>
          <p:cNvPr id="57" name="Text 38"/>
          <p:cNvSpPr/>
          <p:nvPr/>
        </p:nvSpPr>
        <p:spPr>
          <a:xfrm>
            <a:off x="841248" y="5285232"/>
            <a:ext cx="402336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100" dirty="0"/>
          </a:p>
        </p:txBody>
      </p:sp>
      <p:sp>
        <p:nvSpPr>
          <p:cNvPr id="58" name="Text 39"/>
          <p:cNvSpPr/>
          <p:nvPr/>
        </p:nvSpPr>
        <p:spPr>
          <a:xfrm>
            <a:off x="4910328" y="5285232"/>
            <a:ext cx="2192426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200" dirty="0"/>
          </a:p>
        </p:txBody>
      </p:sp>
      <p:sp>
        <p:nvSpPr>
          <p:cNvPr id="59" name="Text 40"/>
          <p:cNvSpPr/>
          <p:nvPr/>
        </p:nvSpPr>
        <p:spPr>
          <a:xfrm>
            <a:off x="7102754" y="5285232"/>
            <a:ext cx="2192426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200" dirty="0"/>
          </a:p>
        </p:txBody>
      </p:sp>
      <p:pic>
        <p:nvPicPr>
          <p:cNvPr id="60" name="Image 17" descr="assets/ic-detailed-r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309098" y="5342382"/>
            <a:ext cx="164592" cy="164592"/>
          </a:xfrm>
          <a:prstGeom prst="rect">
            <a:avLst/>
          </a:prstGeom>
        </p:spPr>
      </p:pic>
      <p:sp>
        <p:nvSpPr>
          <p:cNvPr id="61" name="Shape 41"/>
          <p:cNvSpPr/>
          <p:nvPr/>
        </p:nvSpPr>
        <p:spPr>
          <a:xfrm>
            <a:off x="704088" y="5564124"/>
            <a:ext cx="10783519" cy="278892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/>
            </a:solidFill>
            <a:prstDash val="solid"/>
          </a:ln>
        </p:spPr>
      </p:sp>
      <p:sp>
        <p:nvSpPr>
          <p:cNvPr id="62" name="Text 42"/>
          <p:cNvSpPr/>
          <p:nvPr/>
        </p:nvSpPr>
        <p:spPr>
          <a:xfrm>
            <a:off x="841248" y="5564124"/>
            <a:ext cx="402336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 &amp; authentication</a:t>
            </a:r>
            <a:endParaRPr lang="en-US" sz="1100" dirty="0"/>
          </a:p>
        </p:txBody>
      </p:sp>
      <p:sp>
        <p:nvSpPr>
          <p:cNvPr id="63" name="Text 43"/>
          <p:cNvSpPr/>
          <p:nvPr/>
        </p:nvSpPr>
        <p:spPr>
          <a:xfrm>
            <a:off x="4910328" y="5564124"/>
            <a:ext cx="2192426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200" dirty="0"/>
          </a:p>
        </p:txBody>
      </p:sp>
      <p:sp>
        <p:nvSpPr>
          <p:cNvPr id="64" name="Text 44"/>
          <p:cNvSpPr/>
          <p:nvPr/>
        </p:nvSpPr>
        <p:spPr>
          <a:xfrm>
            <a:off x="7102754" y="5564124"/>
            <a:ext cx="2192426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200" dirty="0"/>
          </a:p>
        </p:txBody>
      </p:sp>
      <p:pic>
        <p:nvPicPr>
          <p:cNvPr id="65" name="Image 18" descr="assets/ic-detailed-r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309098" y="5621274"/>
            <a:ext cx="164592" cy="164592"/>
          </a:xfrm>
          <a:prstGeom prst="rect">
            <a:avLst/>
          </a:prstGeom>
        </p:spPr>
      </p:pic>
      <p:sp>
        <p:nvSpPr>
          <p:cNvPr id="66" name="Text 45"/>
          <p:cNvSpPr/>
          <p:nvPr/>
        </p:nvSpPr>
        <p:spPr>
          <a:xfrm>
            <a:off x="841248" y="5843016"/>
            <a:ext cx="402336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E-commerce system</a:t>
            </a:r>
            <a:endParaRPr lang="en-US" sz="1100" dirty="0"/>
          </a:p>
        </p:txBody>
      </p:sp>
      <p:sp>
        <p:nvSpPr>
          <p:cNvPr id="67" name="Text 46"/>
          <p:cNvSpPr/>
          <p:nvPr/>
        </p:nvSpPr>
        <p:spPr>
          <a:xfrm>
            <a:off x="4910328" y="5843016"/>
            <a:ext cx="2192426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200" dirty="0"/>
          </a:p>
        </p:txBody>
      </p:sp>
      <p:sp>
        <p:nvSpPr>
          <p:cNvPr id="68" name="Text 47"/>
          <p:cNvSpPr/>
          <p:nvPr/>
        </p:nvSpPr>
        <p:spPr>
          <a:xfrm>
            <a:off x="7102754" y="5843016"/>
            <a:ext cx="2192426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200" dirty="0"/>
          </a:p>
        </p:txBody>
      </p:sp>
      <p:pic>
        <p:nvPicPr>
          <p:cNvPr id="69" name="Image 19" descr="assets/ic-detailed-r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309098" y="5900166"/>
            <a:ext cx="164592" cy="164592"/>
          </a:xfrm>
          <a:prstGeom prst="rect">
            <a:avLst/>
          </a:prstGeom>
        </p:spPr>
      </p:pic>
      <p:sp>
        <p:nvSpPr>
          <p:cNvPr id="70" name="Text 48"/>
          <p:cNvSpPr/>
          <p:nvPr/>
        </p:nvSpPr>
        <p:spPr>
          <a:xfrm>
            <a:off x="704088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GABRIEL ZELAYA  ·  WEB DEVELOPMENT</a:t>
            </a:r>
            <a:endParaRPr lang="en-US" sz="850" dirty="0"/>
          </a:p>
        </p:txBody>
      </p:sp>
      <p:sp>
        <p:nvSpPr>
          <p:cNvPr id="71" name="Text 49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" y="3840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GZ.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04088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pPr algn="l" indent="0" marL="0">
              <a:buNone/>
            </a:pPr>
            <a:r>
              <a:rPr lang="en-US" sz="115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/   EVERY PROJECT INCLUDES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04088" y="11887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Standards, on every build.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04088" y="2148840"/>
            <a:ext cx="3383280" cy="1417320"/>
          </a:xfrm>
          <a:prstGeom prst="rect">
            <a:avLst/>
          </a:prstGeom>
          <a:solidFill>
            <a:srgbClr val="0C0C0C"/>
          </a:solidFill>
          <a:ln w="12700">
            <a:solidFill>
              <a:srgbClr val="262626"/>
            </a:solidFill>
            <a:prstDash val="solid"/>
          </a:ln>
        </p:spPr>
      </p:sp>
      <p:pic>
        <p:nvPicPr>
          <p:cNvPr id="6" name="Image 0" descr="assets/ic-server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46888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28072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Clean handoff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24128" y="31363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Organized source code, yours to keep.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07408" y="2148840"/>
            <a:ext cx="3383280" cy="1417320"/>
          </a:xfrm>
          <a:prstGeom prst="rect">
            <a:avLst/>
          </a:prstGeom>
          <a:solidFill>
            <a:srgbClr val="0C0C0C"/>
          </a:solidFill>
          <a:ln w="12700">
            <a:solidFill>
              <a:srgbClr val="262626"/>
            </a:solidFill>
            <a:prstDash val="solid"/>
          </a:ln>
        </p:spPr>
      </p:sp>
      <p:pic>
        <p:nvPicPr>
          <p:cNvPr id="10" name="Image 1" descr="assets/ic-zap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8" y="2468880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27448" y="28072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Speed-optimized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727448" y="31363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loads on every connection.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110728" y="2148840"/>
            <a:ext cx="3383280" cy="1417320"/>
          </a:xfrm>
          <a:prstGeom prst="rect">
            <a:avLst/>
          </a:prstGeom>
          <a:solidFill>
            <a:srgbClr val="0C0C0C"/>
          </a:solidFill>
          <a:ln w="12700">
            <a:solidFill>
              <a:srgbClr val="262626"/>
            </a:solidFill>
            <a:prstDash val="solid"/>
          </a:ln>
        </p:spPr>
      </p:sp>
      <p:pic>
        <p:nvPicPr>
          <p:cNvPr id="14" name="Image 2" descr="assets/ic-detailed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768" y="2468880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30768" y="28072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Responsive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8430768" y="31363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Pixel-right on phone, tablet and desktop.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704088" y="3840480"/>
            <a:ext cx="3383280" cy="1417320"/>
          </a:xfrm>
          <a:prstGeom prst="rect">
            <a:avLst/>
          </a:prstGeom>
          <a:solidFill>
            <a:srgbClr val="0C0C0C"/>
          </a:solidFill>
          <a:ln w="12700">
            <a:solidFill>
              <a:srgbClr val="262626"/>
            </a:solidFill>
            <a:prstDash val="solid"/>
          </a:ln>
        </p:spPr>
      </p:sp>
      <p:pic>
        <p:nvPicPr>
          <p:cNvPr id="18" name="Image 3" descr="assets/ic-discovery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4160520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24128" y="44988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SEO-ready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024128" y="48280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to be found on Google.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407408" y="3840480"/>
            <a:ext cx="3383280" cy="1417320"/>
          </a:xfrm>
          <a:prstGeom prst="rect">
            <a:avLst/>
          </a:prstGeom>
          <a:solidFill>
            <a:srgbClr val="0C0C0C"/>
          </a:solidFill>
          <a:ln w="12700">
            <a:solidFill>
              <a:srgbClr val="262626"/>
            </a:solidFill>
            <a:prstDash val="solid"/>
          </a:ln>
        </p:spPr>
      </p:sp>
      <p:pic>
        <p:nvPicPr>
          <p:cNvPr id="22" name="Image 4" descr="assets/ic-login-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448" y="4160520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727448" y="44988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Secure by default</a:t>
            </a:r>
            <a:endParaRPr lang="en-US" sz="1700" dirty="0"/>
          </a:p>
        </p:txBody>
      </p:sp>
      <p:sp>
        <p:nvSpPr>
          <p:cNvPr id="24" name="Text 17"/>
          <p:cNvSpPr/>
          <p:nvPr/>
        </p:nvSpPr>
        <p:spPr>
          <a:xfrm>
            <a:off x="4727448" y="48280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Best-practice security baked in.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8110728" y="3840480"/>
            <a:ext cx="3383280" cy="1417320"/>
          </a:xfrm>
          <a:prstGeom prst="rect">
            <a:avLst/>
          </a:prstGeom>
          <a:solidFill>
            <a:srgbClr val="0C0C0C"/>
          </a:solidFill>
          <a:ln w="12700">
            <a:solidFill>
              <a:srgbClr val="262626"/>
            </a:solidFill>
            <a:prstDash val="solid"/>
          </a:ln>
        </p:spPr>
      </p:sp>
      <p:pic>
        <p:nvPicPr>
          <p:cNvPr id="26" name="Image 5" descr="assets/ic-mail-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0768" y="4160520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430768" y="44988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Honest updates</a:t>
            </a:r>
            <a:endParaRPr lang="en-US" sz="1700" dirty="0"/>
          </a:p>
        </p:txBody>
      </p:sp>
      <p:sp>
        <p:nvSpPr>
          <p:cNvPr id="28" name="Text 20"/>
          <p:cNvSpPr/>
          <p:nvPr/>
        </p:nvSpPr>
        <p:spPr>
          <a:xfrm>
            <a:off x="8430768" y="48280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communication, start to finish.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704088" y="5513832"/>
            <a:ext cx="1078351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 to begin, 50% on delivery</a:t>
            </a:r>
            <a:pPr algn="ctr" indent="0" marL="0">
              <a:buNone/>
            </a:pPr>
            <a:r>
              <a:rPr lang="en-US" sz="115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·      </a:t>
            </a:r>
            <a:pPr algn="ctr" indent="0" marL="0">
              <a:buNone/>
            </a:pPr>
            <a:r>
              <a:rPr lang="en-US" sz="115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Prices in Costa Rican colón (₡)</a:t>
            </a:r>
            <a:pPr algn="ctr" indent="0" marL="0">
              <a:buNone/>
            </a:pPr>
            <a:r>
              <a:rPr lang="en-US" sz="115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·      </a:t>
            </a:r>
            <a:pPr algn="ctr" indent="0" marL="0">
              <a:buNone/>
            </a:pPr>
            <a:r>
              <a:rPr lang="en-US" sz="115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scoped per project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704088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GABRIEL ZELAYA  ·  WEB DEVELOPMENT</a:t>
            </a:r>
            <a:endParaRPr lang="en-US" sz="850" dirty="0"/>
          </a:p>
        </p:txBody>
      </p:sp>
      <p:sp>
        <p:nvSpPr>
          <p:cNvPr id="31" name="Text 23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" y="3840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GZ.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LET'S TALK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95528" y="237744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Let's build something
</a:t>
            </a:r>
            <a:pPr algn="l" indent="0" marL="0">
              <a:lnSpc>
                <a:spcPct val="100000"/>
              </a:lnSpc>
              <a:buNone/>
            </a:pPr>
            <a:r>
              <a:rPr lang="en-US" sz="5600" i="1" dirty="0">
                <a:solidFill>
                  <a:srgbClr val="CE6E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authentic</a:t>
            </a:r>
            <a:pPr algn="l" indent="0" marL="0">
              <a:lnSpc>
                <a:spcPct val="100000"/>
              </a:lnSpc>
              <a:buNone/>
            </a:pPr>
            <a:r>
              <a:rPr lang="en-US" sz="5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Tell me about your project and I'll reply with a tailored plan and quote.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892040"/>
            <a:ext cx="2377440" cy="566928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89204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A PROJECT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869680" y="24231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69680" y="264261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gzelaya0404@gmail.com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869680" y="3136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869680" y="33558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in/gabriel-zelaya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869680" y="38496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869680" y="4069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GabrielAbarca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869680" y="45628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TWITTER / 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69680" y="47823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@iGaboxx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A6A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Gabriel Zelaya  ·  Costa Rica  ·  Authentic, scalable web development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Gabriel Zelaya — Web Development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Development Packages</dc:title>
  <dc:subject>PptxGenJS Presentation</dc:subject>
  <dc:creator>Gabriel Zelaya</dc:creator>
  <cp:lastModifiedBy>Gabriel Zelaya</cp:lastModifiedBy>
  <cp:revision>1</cp:revision>
  <dcterms:created xsi:type="dcterms:W3CDTF">2026-08-18T05:37:30Z</dcterms:created>
  <dcterms:modified xsi:type="dcterms:W3CDTF">2026-08-18T05:37:30Z</dcterms:modified>
</cp:coreProperties>
</file>